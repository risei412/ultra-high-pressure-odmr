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88" r:id="rId1"/>
  </p:sldMasterIdLst>
  <p:notesMasterIdLst>
    <p:notesMasterId r:id="rId50"/>
  </p:notesMasterIdLst>
  <p:sldIdLst>
    <p:sldId id="256" r:id="rId8"/>
    <p:sldId id="257" r:id="rId9"/>
    <p:sldId id="258" r:id="rId10"/>
    <p:sldId id="259" r:id="rId11"/>
    <p:sldId id="260" r:id="rId13"/>
    <p:sldId id="261" r:id="rId12"/>
    <p:sldId id="262" r:id="rId15"/>
    <p:sldId r:id="rId56" id="263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2B2A"/>
    <a:srgbClr val="707070"/>
    <a:srgbClr val="2B9B48"/>
    <a:srgbClr val="6BB829"/>
    <a:srgbClr val="F8BB25"/>
    <a:srgbClr val="FE8630"/>
    <a:srgbClr val="009D3E"/>
    <a:srgbClr val="FF0015"/>
    <a:srgbClr val="FF7E00"/>
    <a:srgbClr val="F7BB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6BB743-7BAC-BD40-B4F2-B16391318692}" v="5" dt="2024-07-24T03:34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8"/>
    <p:restoredTop sz="94648"/>
  </p:normalViewPr>
  <p:slideViewPr>
    <p:cSldViewPr snapToGrid="0">
      <p:cViewPr varScale="1">
        <p:scale>
          <a:sx n="107" d="100"/>
          <a:sy n="107" d="100"/>
        </p:scale>
        <p:origin x="7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5/10/relationships/revisionInfo" Target="revisionInfo.xml"/><Relationship Id="rId5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54DE91-F736-AB48-81FA-0DBC1D2288D3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B0E78-FB0F-2646-A98F-B55C16366C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5466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1pPr>
    <a:lvl2pPr marL="60957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2pPr>
    <a:lvl3pPr marL="121914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3pPr>
    <a:lvl4pPr marL="1828709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4pPr>
    <a:lvl5pPr marL="243827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5pPr>
    <a:lvl6pPr marL="304784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6pPr>
    <a:lvl7pPr marL="365741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7pPr>
    <a:lvl8pPr marL="426698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8pPr>
    <a:lvl9pPr marL="487655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0:00–0:40  結論を先に置く。答えは窓で、その中に市販の 473 nm DPSS がある。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0:40–1:35  DAC とは何かを図で見せる。狙う圧力帯 → 試料が小さすぎる → 抵抗では決着しない、の 3 段。表は H₃S と (La,Ce)H₉ だけ読む。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1:35–2:20  探針はアンビル内。既に撮れている実測を見せ、マップ時間 ∝ 画素数/η² で感度が通貨だと言う。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2:20–3:20  2 つの端が窓を挟み込む。常圧曲線は単一有効フォノン近似が粗い旨を先に断る（次ページの伏線）。［想定質問・軽微］なぜ二光子励起ではなく青色単光子か: 二光子励起は CW ロックインと両立せず、必要なピーク強度は DAC の熱制約に触れる。本研究は既存の CW-ODMR 装置で波長を替えるだけで得られる利得を扱う。なおモデル内の二光子過程は信号源ではなく、高強度でのイオン化損失としてのみ入っている（8 枚目）。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3:55–4:45  答え。窓の広さと 473 nm の位置。MC 帯が窓の半分を占めることを隠さない。［想定質問］温度依存は? λopt は 4 K と 300 K で 0.6 nm しか動かない。温度はフランク–コンドン包絡にしか入らず、包絡は対称に広がるのでピークは動かない。むしろ冷やすと反ストークス側が消えて赤側の裾にいる 532 nm が更に落ち、緑とのペナルティ比は 300 K の ×2.5 から 150 K で ×3.4、4 K で ×4.9 に開く。室温の ×2.5 は保守的な値である。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3:20–3:55  相殺 → 現象論非依存。ゼロが並ぶ絵が主張。ただし上の 3 本のうち最大は自分のモデル形であることを言い、「点ではなく窓」へ渡す。λσ の 1.5 nm は聞かれたら答える程度に留める。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4:45–5:55  再現と反証。較正は 2 定数だけ、26/26、50 GPa の null も再現。符号変化は単一圧力の系統誤差では作れない。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6:50–7:35  理論を凍結し、次の一手に渡す。低温で測ることになるが、①②を冷やしてやり直す必要はない — λopt の温度依存は 0.6 nm で、常温で選んだ線が低温でも正しい。①は (111) アンビルでアンカーが移るため必須。α や micropillar を前提にせず、測った ZPL で読み替える。適用条件は口頭で: 73 GPa 以上でのみ青が有利、type Ib バルクは 500 nm 以下を吸うので低窒素アンビルが要る。②で C(I)・Δν(I) を同時に取れば、パワー依存が「校正前のシナリオ」から結果に変わる。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5:55–6:50  未解決。向きは頑健、量は未校正。既存実験がいる u ≲ 0.3 でコストが ×1.5 に達することを言い、473 nm 単色パワー掃引 1 本という次の一手に落とす。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BDB99294-F8AA-3558-0885-6694A330E7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20BFFCA8-6C4A-812A-F8B9-86D5155D1A0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025567" y="4828159"/>
            <a:ext cx="2832000" cy="575135"/>
          </a:xfrm>
          <a:prstGeom prst="rect">
            <a:avLst/>
          </a:prstGeom>
        </p:spPr>
      </p:pic>
      <p:sp>
        <p:nvSpPr>
          <p:cNvPr id="2" name="タイトル 7">
            <a:extLst>
              <a:ext uri="{FF2B5EF4-FFF2-40B4-BE49-F238E27FC236}">
                <a16:creationId xmlns:a16="http://schemas.microsoft.com/office/drawing/2014/main" id="{F5C60916-439F-51BE-149E-8DE1E91613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6022" y="1232379"/>
            <a:ext cx="10488876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lang="ja-JP" altLang="en-US"/>
              <a:t>游ゴシック</a:t>
            </a:r>
            <a:r>
              <a:rPr lang="en-US" altLang="ja-JP"/>
              <a:t>/Bold</a:t>
            </a:r>
            <a:endParaRPr kumimoji="1" lang="ja-JP" altLang="en-US"/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4C476F49-865D-989F-F96C-F93805A6620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15055" y="2710502"/>
            <a:ext cx="10482334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 Bold</a:t>
            </a:r>
            <a:endParaRPr kumimoji="1" lang="ja-JP" altLang="en-US"/>
          </a:p>
        </p:txBody>
      </p:sp>
      <p:sp>
        <p:nvSpPr>
          <p:cNvPr id="4" name="コンテンツ プレースホルダー 12">
            <a:extLst>
              <a:ext uri="{FF2B5EF4-FFF2-40B4-BE49-F238E27FC236}">
                <a16:creationId xmlns:a16="http://schemas.microsoft.com/office/drawing/2014/main" id="{D2786611-1C45-B8F0-5DE8-65AD4FD4B0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22564" y="3494556"/>
            <a:ext cx="9077350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</a:t>
            </a:r>
            <a:r>
              <a:rPr kumimoji="1" lang="en-US" altLang="ja-JP"/>
              <a:t> </a:t>
            </a:r>
            <a:r>
              <a:rPr kumimoji="1" lang="ja-JP" altLang="en-US"/>
              <a:t>・所属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  <p:sp>
        <p:nvSpPr>
          <p:cNvPr id="5" name="コンテンツ プレースホルダー 12">
            <a:extLst>
              <a:ext uri="{FF2B5EF4-FFF2-40B4-BE49-F238E27FC236}">
                <a16:creationId xmlns:a16="http://schemas.microsoft.com/office/drawing/2014/main" id="{A1DE5D5F-AFDB-CCF4-7161-800DD7F2CE6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83087" y="6463214"/>
            <a:ext cx="5761568" cy="317384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328905508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D341FA49-C8BA-4416-CFA9-6B1556B533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36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タイトル 6">
            <a:extLst>
              <a:ext uri="{FF2B5EF4-FFF2-40B4-BE49-F238E27FC236}">
                <a16:creationId xmlns:a16="http://schemas.microsoft.com/office/drawing/2014/main" id="{32EC8CC2-84B1-BCA0-479A-A4A20AF286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314896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343BA23-B623-F431-3B6B-C265DB029D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86788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背景パターン&#10;&#10;中程度の精度で自動的に生成された説明">
            <a:extLst>
              <a:ext uri="{FF2B5EF4-FFF2-40B4-BE49-F238E27FC236}">
                <a16:creationId xmlns:a16="http://schemas.microsoft.com/office/drawing/2014/main" id="{9C23EC59-0C5A-7811-5B85-B9E539D079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6">
            <a:extLst>
              <a:ext uri="{FF2B5EF4-FFF2-40B4-BE49-F238E27FC236}">
                <a16:creationId xmlns:a16="http://schemas.microsoft.com/office/drawing/2014/main" id="{E19FAA7A-3085-9294-E31F-CE7196FF2A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314896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E0A0950-A128-01BF-1AAF-4BB004B48A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9455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9932967-DE81-3918-C882-41D1FC6677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8F74D12C-30DC-0E71-4D41-8204860B744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6263" y="5839891"/>
            <a:ext cx="2400000" cy="487403"/>
          </a:xfrm>
          <a:prstGeom prst="rect">
            <a:avLst/>
          </a:prstGeom>
        </p:spPr>
      </p:pic>
      <p:sp>
        <p:nvSpPr>
          <p:cNvPr id="4" name="タイトル 7">
            <a:extLst>
              <a:ext uri="{FF2B5EF4-FFF2-40B4-BE49-F238E27FC236}">
                <a16:creationId xmlns:a16="http://schemas.microsoft.com/office/drawing/2014/main" id="{C189C689-1BDE-72A8-5184-CE97969315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0401" y="2293206"/>
            <a:ext cx="9535342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rgbClr val="1C3177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lang="ja-JP" altLang="en-US"/>
              <a:t>游ゴシック</a:t>
            </a:r>
            <a:r>
              <a:rPr lang="en-US" altLang="ja-JP"/>
              <a:t>/Bold</a:t>
            </a:r>
            <a:endParaRPr kumimoji="1" lang="ja-JP" altLang="en-US"/>
          </a:p>
        </p:txBody>
      </p:sp>
      <p:sp>
        <p:nvSpPr>
          <p:cNvPr id="5" name="コンテンツ プレースホルダー 12">
            <a:extLst>
              <a:ext uri="{FF2B5EF4-FFF2-40B4-BE49-F238E27FC236}">
                <a16:creationId xmlns:a16="http://schemas.microsoft.com/office/drawing/2014/main" id="{99C777D7-5079-B2D4-A805-52BC2427F2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0399" y="3924163"/>
            <a:ext cx="8032228" cy="731359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CD517DDC-0F67-EAC6-D347-5253BB35F8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0402" y="4701635"/>
            <a:ext cx="6181656" cy="731359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役職・所属</a:t>
            </a:r>
            <a:r>
              <a:rPr kumimoji="1" lang="en-US" altLang="ja-JP"/>
              <a:t>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r>
              <a:rPr kumimoji="1" lang="ja-JP" altLang="en-US"/>
              <a:t>　　　</a:t>
            </a:r>
          </a:p>
        </p:txBody>
      </p:sp>
      <p:sp>
        <p:nvSpPr>
          <p:cNvPr id="6" name="コンテンツ プレースホルダー 12">
            <a:extLst>
              <a:ext uri="{FF2B5EF4-FFF2-40B4-BE49-F238E27FC236}">
                <a16:creationId xmlns:a16="http://schemas.microsoft.com/office/drawing/2014/main" id="{437493F9-6402-7179-62B3-F93DBB80AC1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93977" y="6133056"/>
            <a:ext cx="5761568" cy="59751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9584621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764C0CE-FCED-56A8-6F0B-0E440EC00A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7" name="タイトル 6">
            <a:extLst>
              <a:ext uri="{FF2B5EF4-FFF2-40B4-BE49-F238E27FC236}">
                <a16:creationId xmlns:a16="http://schemas.microsoft.com/office/drawing/2014/main" id="{6C1A774C-7DB2-663C-4623-5850406753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294" y="119697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EF15FF9-0880-B2C3-B4BF-CF5692E1B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1389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図形, 背景パターン, 矢印&#10;&#10;自動的に生成された説明">
            <a:extLst>
              <a:ext uri="{FF2B5EF4-FFF2-40B4-BE49-F238E27FC236}">
                <a16:creationId xmlns:a16="http://schemas.microsoft.com/office/drawing/2014/main" id="{556B259B-B911-0CA1-C42F-FAA7E0FFD7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タイトル 6">
            <a:extLst>
              <a:ext uri="{FF2B5EF4-FFF2-40B4-BE49-F238E27FC236}">
                <a16:creationId xmlns:a16="http://schemas.microsoft.com/office/drawing/2014/main" id="{3AAF5D27-76AF-9EF9-9D52-219FCF8F0E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296" y="119697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26C43C7-AE2D-52F4-39C3-82789D69CC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254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FCD422C-2C8C-FA55-B96B-97B10DC1CC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321"/>
          <a:stretch/>
        </p:blipFill>
        <p:spPr>
          <a:xfrm>
            <a:off x="283036" y="0"/>
            <a:ext cx="11908964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F66388A7-6010-5A0E-3B23-6394FC6EC4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6263" y="5491831"/>
            <a:ext cx="2400000" cy="487403"/>
          </a:xfrm>
          <a:prstGeom prst="rect">
            <a:avLst/>
          </a:prstGeom>
        </p:spPr>
      </p:pic>
      <p:sp>
        <p:nvSpPr>
          <p:cNvPr id="11" name="コンテンツ プレースホルダー 12">
            <a:extLst>
              <a:ext uri="{FF2B5EF4-FFF2-40B4-BE49-F238E27FC236}">
                <a16:creationId xmlns:a16="http://schemas.microsoft.com/office/drawing/2014/main" id="{E889DD8F-8662-F86E-7D9D-2EBC4946B22C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7531" y="2022017"/>
            <a:ext cx="7317526" cy="65342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1D6FE57-69DC-8236-A030-07B36F0CCC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133" y="265791"/>
            <a:ext cx="8337200" cy="1396497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2A8EBC5D-D2E1-1C20-DCE7-A64CD225CA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7531" y="2871021"/>
            <a:ext cx="4816307" cy="93252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</a:t>
            </a:r>
            <a:endParaRPr kumimoji="1" lang="en-US" altLang="ja-JP"/>
          </a:p>
          <a:p>
            <a:pPr lvl="0"/>
            <a:r>
              <a:rPr kumimoji="1" lang="ja-JP" altLang="en-US"/>
              <a:t>所属</a:t>
            </a:r>
            <a:r>
              <a:rPr kumimoji="1" lang="en-US" altLang="ja-JP"/>
              <a:t> 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</a:p>
        </p:txBody>
      </p:sp>
      <p:sp>
        <p:nvSpPr>
          <p:cNvPr id="6" name="コンテンツ プレースホルダー 12">
            <a:extLst>
              <a:ext uri="{FF2B5EF4-FFF2-40B4-BE49-F238E27FC236}">
                <a16:creationId xmlns:a16="http://schemas.microsoft.com/office/drawing/2014/main" id="{D69F5F0E-B33F-A6C1-A24C-00513592DBC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805333" y="261448"/>
            <a:ext cx="2910716" cy="61747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</a:t>
            </a:r>
          </a:p>
        </p:txBody>
      </p:sp>
    </p:spTree>
    <p:extLst>
      <p:ext uri="{BB962C8B-B14F-4D97-AF65-F5344CB8AC3E}">
        <p14:creationId xmlns:p14="http://schemas.microsoft.com/office/powerpoint/2010/main" val="1533399195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B09E5F40-522C-6EC0-7328-7F52FDF9E0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795"/>
          <a:stretch/>
        </p:blipFill>
        <p:spPr>
          <a:xfrm>
            <a:off x="584610" y="0"/>
            <a:ext cx="1160739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E6C33D6D-9C84-D9CF-C2DA-008D7EF00E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952" y="4404047"/>
            <a:ext cx="5609048" cy="157702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7DDFCDE-6AC7-26AD-1E99-E35A31393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02120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背景パターン&#10;&#10;自動的に生成された説明">
            <a:extLst>
              <a:ext uri="{FF2B5EF4-FFF2-40B4-BE49-F238E27FC236}">
                <a16:creationId xmlns:a16="http://schemas.microsoft.com/office/drawing/2014/main" id="{3552089B-BE10-A6B4-0520-088629B63A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795"/>
          <a:stretch/>
        </p:blipFill>
        <p:spPr>
          <a:xfrm>
            <a:off x="584613" y="0"/>
            <a:ext cx="11607387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B6F4E6A-6447-6E0D-0158-4A77C5531E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タイトル 6">
            <a:extLst>
              <a:ext uri="{FF2B5EF4-FFF2-40B4-BE49-F238E27FC236}">
                <a16:creationId xmlns:a16="http://schemas.microsoft.com/office/drawing/2014/main" id="{55C1AE9A-A0E5-2B15-C809-16C60A5E7E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952" y="4404050"/>
            <a:ext cx="5609048" cy="157702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163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07384A5-816F-4B1C-723C-1CCF10DD75D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087F9BA-766B-8200-DC42-2D03F5DD819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57038" y="836369"/>
            <a:ext cx="2400000" cy="487403"/>
          </a:xfrm>
          <a:prstGeom prst="rect">
            <a:avLst/>
          </a:prstGeom>
        </p:spPr>
      </p:pic>
      <p:sp>
        <p:nvSpPr>
          <p:cNvPr id="6" name="タイトル 7">
            <a:extLst>
              <a:ext uri="{FF2B5EF4-FFF2-40B4-BE49-F238E27FC236}">
                <a16:creationId xmlns:a16="http://schemas.microsoft.com/office/drawing/2014/main" id="{B0E283A0-90F6-1D77-C0DD-892F47D1C4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3118" y="3682279"/>
            <a:ext cx="10488876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rgbClr val="1C3177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7" name="コンテンツ プレースホルダー 12">
            <a:extLst>
              <a:ext uri="{FF2B5EF4-FFF2-40B4-BE49-F238E27FC236}">
                <a16:creationId xmlns:a16="http://schemas.microsoft.com/office/drawing/2014/main" id="{705224EE-311E-7AAA-7C7B-93AE5CF2EF3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2151" y="5218706"/>
            <a:ext cx="8487678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名前</a:t>
            </a:r>
            <a:r>
              <a:rPr kumimoji="1" lang="en-US" altLang="ja-JP"/>
              <a:t>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コンテンツ プレースホルダー 12">
            <a:extLst>
              <a:ext uri="{FF2B5EF4-FFF2-40B4-BE49-F238E27FC236}">
                <a16:creationId xmlns:a16="http://schemas.microsoft.com/office/drawing/2014/main" id="{15C8D278-230A-DD61-6E93-44412F5CC2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2151" y="5998028"/>
            <a:ext cx="8487678" cy="56795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役職・所属</a:t>
            </a:r>
            <a:r>
              <a:rPr kumimoji="1" lang="en-US" altLang="ja-JP"/>
              <a:t>  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A1ED2FF8-9462-1D57-B7AA-32BCEA1BC89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434942" y="1475590"/>
            <a:ext cx="4509711" cy="35653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　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9252845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C0F47B4-DF50-5051-5B14-DE4EEDCD91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AF7EF454-1737-6C1B-59FF-6E6B61B85D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2623199"/>
            <a:ext cx="10927080" cy="589915"/>
          </a:xfrm>
          <a:prstGeom prst="rect">
            <a:avLst/>
          </a:prstGeom>
        </p:spPr>
        <p:txBody>
          <a:bodyPr anchor="ctr"/>
          <a:lstStyle>
            <a:lvl1pPr algn="ctr"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E49821C-314C-A319-5974-669DFE7359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9638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図形, 背景パターン&#10;&#10;自動的に生成された説明">
            <a:extLst>
              <a:ext uri="{FF2B5EF4-FFF2-40B4-BE49-F238E27FC236}">
                <a16:creationId xmlns:a16="http://schemas.microsoft.com/office/drawing/2014/main" id="{EDA50170-5274-385C-B6E6-B3C076E9AC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454D65FC-2A2B-4BF4-4649-A4D4326D05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2623199"/>
            <a:ext cx="10927080" cy="589915"/>
          </a:xfrm>
          <a:prstGeom prst="rect">
            <a:avLst/>
          </a:prstGeom>
        </p:spPr>
        <p:txBody>
          <a:bodyPr anchor="ctr"/>
          <a:lstStyle>
            <a:lvl1pPr algn="ctr"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C66FA5D-9CFE-6140-1F7C-0FE2713CC4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27613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次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1CE82A2-7DDF-1AFA-31D2-9A3B8F00F213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57791F3D-B350-D567-6C2C-B67151B5BF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目次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C0D7CFC8-5C2F-8631-B3FF-F2A47F351D4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17386" y="1202844"/>
            <a:ext cx="11210787" cy="3048000"/>
          </a:xfrm>
          <a:prstGeom prst="rect">
            <a:avLst/>
          </a:prstGeom>
        </p:spPr>
        <p:txBody>
          <a:bodyPr/>
          <a:lstStyle>
            <a:lvl1pPr marL="514350" indent="-5143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2400" b="1">
                <a:latin typeface="+mn-ea"/>
                <a:ea typeface="+mn-ea"/>
              </a:defRPr>
            </a:lvl1pPr>
            <a:lvl2pPr marL="800100" indent="-3429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b="1">
                <a:latin typeface="+mn-ea"/>
                <a:ea typeface="+mn-ea"/>
              </a:defRPr>
            </a:lvl2pPr>
            <a:lvl3pPr marL="1257300" indent="-342900">
              <a:lnSpc>
                <a:spcPct val="120000"/>
              </a:lnSpc>
              <a:buFont typeface="Arial" panose="020B0604020202020204" pitchFamily="34" charset="0"/>
              <a:buChar char="•"/>
              <a:defRPr b="1">
                <a:latin typeface="+mn-ea"/>
                <a:ea typeface="+mn-ea"/>
              </a:defRPr>
            </a:lvl3pPr>
            <a:lvl4pPr marL="1657350" indent="-285750">
              <a:lnSpc>
                <a:spcPct val="120000"/>
              </a:lnSpc>
              <a:buFont typeface="Arial" panose="020B0604020202020204" pitchFamily="34" charset="0"/>
              <a:buChar char="•"/>
              <a:defRPr sz="2000" b="1">
                <a:latin typeface="+mn-ea"/>
                <a:ea typeface="+mn-ea"/>
              </a:defRPr>
            </a:lvl4pPr>
            <a:lvl5pPr marL="2114550" indent="-285750">
              <a:lnSpc>
                <a:spcPct val="120000"/>
              </a:lnSpc>
              <a:buFont typeface="Arial" panose="020B0604020202020204" pitchFamily="34" charset="0"/>
              <a:buChar char="•"/>
              <a:defRPr b="1">
                <a:latin typeface="+mn-ea"/>
                <a:ea typeface="+mn-ea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 marL="30289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 marL="34861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 marL="39433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 dirty="0"/>
              <a:t>　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endParaRPr kumimoji="1" lang="en-US" altLang="ja-JP" dirty="0"/>
          </a:p>
          <a:p>
            <a:pPr lvl="5"/>
            <a:endParaRPr kumimoji="1" lang="en-US" altLang="ja-JP" dirty="0"/>
          </a:p>
          <a:p>
            <a:pPr lvl="0"/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endParaRPr kumimoji="1" lang="en-US" altLang="ja-JP" b="1" dirty="0">
              <a:latin typeface="+mn-ea"/>
              <a:ea typeface="+mn-ea"/>
            </a:endParaRPr>
          </a:p>
          <a:p>
            <a:pPr lvl="4"/>
            <a:endParaRPr kumimoji="1" lang="en-US" altLang="ja-JP" b="1" dirty="0">
              <a:latin typeface="+mn-ea"/>
              <a:ea typeface="+mn-ea"/>
            </a:endParaRPr>
          </a:p>
          <a:p>
            <a:pPr lvl="2"/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926DCBC-CB1E-FAC7-85CE-489FF80ED52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00238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6" name="コンテンツ プレースホルダー 8">
            <a:extLst>
              <a:ext uri="{FF2B5EF4-FFF2-40B4-BE49-F238E27FC236}">
                <a16:creationId xmlns:a16="http://schemas.microsoft.com/office/drawing/2014/main" id="{561C8825-E86E-6414-62C6-23CED23BFA7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14267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6" name="コンテンツ プレースホルダー 8">
            <a:extLst>
              <a:ext uri="{FF2B5EF4-FFF2-40B4-BE49-F238E27FC236}">
                <a16:creationId xmlns:a16="http://schemas.microsoft.com/office/drawing/2014/main" id="{561C8825-E86E-6414-62C6-23CED23BFA7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54527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272360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</a:t>
            </a:r>
            <a:r>
              <a:rPr kumimoji="1" lang="ja-JP" altLang="en-US"/>
              <a:t>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91416" y="217858"/>
            <a:ext cx="1365622" cy="64800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コンテンツ プレースホルダー 8">
            <a:extLst>
              <a:ext uri="{FF2B5EF4-FFF2-40B4-BE49-F238E27FC236}">
                <a16:creationId xmlns:a16="http://schemas.microsoft.com/office/drawing/2014/main" id="{F801ECE0-2CE6-CA80-8167-1365EF70C560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3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136979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272360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91416" y="217858"/>
            <a:ext cx="1365622" cy="64800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EA71EB9A-AFE7-F3C9-5167-0954EACFD5B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862067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305018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108FD7B-9622-6750-A983-348138413EC9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8ABFC63-59DC-59D8-07F3-F0CB7C1BA82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44955" y="344645"/>
            <a:ext cx="2160000" cy="438661"/>
          </a:xfrm>
          <a:prstGeom prst="rect">
            <a:avLst/>
          </a:prstGeom>
        </p:spPr>
      </p:pic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D3B28D76-F95B-F94B-C8D6-1BC0750235C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6pPr>
            <a:lvl7pPr marL="27432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7pPr>
            <a:lvl8pPr marL="32004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8pPr>
            <a:lvl9pPr marL="36576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8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680072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44955" y="344645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305018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コンテンツ プレースホルダー 8">
            <a:extLst>
              <a:ext uri="{FF2B5EF4-FFF2-40B4-BE49-F238E27FC236}">
                <a16:creationId xmlns:a16="http://schemas.microsoft.com/office/drawing/2014/main" id="{14D2D2E6-1180-C1EA-1064-AD51276426B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019086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305018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</a:t>
            </a:r>
            <a:r>
              <a:rPr kumimoji="1" lang="ja-JP" altLang="en-US"/>
              <a:t>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518" y="250516"/>
            <a:ext cx="1193520" cy="566336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5A7F55F-BF45-81CB-D2FE-5C7F3F29EDE6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761E4339-D633-1B48-645B-157DEE624E0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726747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305018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8398" y="250516"/>
            <a:ext cx="1188639" cy="56402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B3519EF-C712-DB1D-51D4-66F9520AEF08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4" name="コンテンツ プレースホルダー 8">
            <a:extLst>
              <a:ext uri="{FF2B5EF4-FFF2-40B4-BE49-F238E27FC236}">
                <a16:creationId xmlns:a16="http://schemas.microsoft.com/office/drawing/2014/main" id="{EC4BD3DB-5E86-5B16-8A96-C416ADC237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56968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9BB4154-9B11-5B4F-FAB1-50F01BF43C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64649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882F94-5EAE-CF39-B474-E260417963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76382" y="6599583"/>
            <a:ext cx="646044" cy="2451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 b="0">
                <a:solidFill>
                  <a:schemeClr val="tx2"/>
                </a:solidFill>
              </a:defRPr>
            </a:lvl1pPr>
          </a:lstStyle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0389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36" r:id="rId3"/>
    <p:sldLayoutId id="2147483724" r:id="rId4"/>
    <p:sldLayoutId id="2147483726" r:id="rId5"/>
    <p:sldLayoutId id="2147483739" r:id="rId6"/>
    <p:sldLayoutId id="2147483748" r:id="rId7"/>
    <p:sldLayoutId id="2147483757" r:id="rId8"/>
    <p:sldLayoutId id="2147483752" r:id="rId9"/>
    <p:sldLayoutId id="2147483729" r:id="rId10"/>
    <p:sldLayoutId id="2147483731" r:id="rId11"/>
    <p:sldLayoutId id="2147483743" r:id="rId12"/>
    <p:sldLayoutId id="2147483764" r:id="rId13"/>
    <p:sldLayoutId id="2147483720" r:id="rId14"/>
    <p:sldLayoutId id="2147483766" r:id="rId15"/>
    <p:sldLayoutId id="2147483765" r:id="rId16"/>
    <p:sldLayoutId id="2147483767" r:id="rId17"/>
    <p:sldLayoutId id="2147483768" r:id="rId18"/>
    <p:sldLayoutId id="2147483769" r:id="rId19"/>
    <p:sldLayoutId id="2147483770" r:id="rId20"/>
    <p:sldLayoutId id="2147483771" r:id="rId21"/>
    <p:sldLayoutId id="2147483695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pos="665">
          <p15:clr>
            <a:srgbClr val="F26B43"/>
          </p15:clr>
        </p15:guide>
        <p15:guide id="4" pos="7015">
          <p15:clr>
            <a:srgbClr val="F26B43"/>
          </p15:clr>
        </p15:guide>
        <p15:guide id="6" orient="horz" pos="3680">
          <p15:clr>
            <a:srgbClr val="F26B43"/>
          </p15:clr>
        </p15:guide>
        <p15:guide id="7" pos="7469">
          <p15:clr>
            <a:srgbClr val="F26B43"/>
          </p15:clr>
        </p15:guide>
        <p15:guide id="8" pos="181">
          <p15:clr>
            <a:srgbClr val="F26B43"/>
          </p15:clr>
        </p15:guide>
        <p15:guide id="9" orient="horz" pos="195">
          <p15:clr>
            <a:srgbClr val="F26B43"/>
          </p15:clr>
        </p15:guide>
        <p15:guide id="10" orient="horz" pos="4125">
          <p15:clr>
            <a:srgbClr val="F26B43"/>
          </p15:clr>
        </p15:guide>
        <p15:guide id="11" pos="363">
          <p15:clr>
            <a:srgbClr val="F26B43"/>
          </p15:clr>
        </p15:guide>
        <p15:guide id="12" pos="7317">
          <p15:clr>
            <a:srgbClr val="F26B43"/>
          </p15:clr>
        </p15:guide>
        <p15:guide id="13" orient="horz" pos="640">
          <p15:clr>
            <a:srgbClr val="F26B43"/>
          </p15:clr>
        </p15:guide>
        <p15:guide id="14" orient="horz" pos="754">
          <p15:clr>
            <a:srgbClr val="F26B43"/>
          </p15:clr>
        </p15:guide>
        <p15:guide id="15" orient="horz" pos="2659">
          <p15:clr>
            <a:srgbClr val="F26B43"/>
          </p15:clr>
        </p15:guide>
        <p15:guide id="16" orient="horz" pos="3566">
          <p15:clr>
            <a:srgbClr val="F26B43"/>
          </p15:clr>
        </p15:guide>
        <p15:guide id="17" orient="horz" pos="1661">
          <p15:clr>
            <a:srgbClr val="F26B43"/>
          </p15:clr>
        </p15:guide>
        <p15:guide id="18" pos="3341">
          <p15:clr>
            <a:srgbClr val="F26B43"/>
          </p15:clr>
        </p15:guide>
        <p15:guide id="19" pos="4339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0">
                <a:latin typeface="Yu Gothic"/>
                <a:ea typeface="Yu Gothic"/>
                <a:cs typeface="Yu Gothic"/>
              </a:rPr>
              <a:t>120 GPa の ODMR は 473 nm で測るべきである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 wrap="square"/>
          <a:lstStyle/>
          <a:p>
            <a:r>
              <a:rPr sz="1800" b="0">
                <a:latin typeface="Yu Gothic"/>
                <a:ea typeface="Yu Gothic"/>
                <a:cs typeface="Yu Gothic"/>
              </a:rPr>
              <a:t>緑 532 nm 比で感度 ×2.5、磁気マップ取得時間 ×6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1" sz="quarter"/>
          </p:nvPr>
        </p:nvSpPr>
        <p:spPr/>
        <p:txBody>
          <a:bodyPr wrap="square"/>
          <a:lstStyle/>
          <a:p>
            <a:r>
              <a:rPr sz="1800">
                <a:latin typeface="Yu Gothic"/>
                <a:ea typeface="Yu Gothic"/>
                <a:cs typeface="Yu Gothic"/>
              </a:rPr>
              <a:t>R. Abe   Institute of Science Tokyo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2" sz="quarter"/>
          </p:nvPr>
        </p:nvSpPr>
        <p:spPr/>
        <p:txBody>
          <a:bodyPr wrap="square"/>
          <a:lstStyle/>
          <a:p>
            <a:r>
              <a:rPr sz="18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試料は 2 枚のダイヤモンドの先端にある</a:t>
            </a:r>
          </a:p>
        </p:txBody>
      </p:sp>
      <p:pic>
        <p:nvPicPr>
          <p:cNvPr id="3" name="Picture 2" descr="lit_dac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234440"/>
            <a:ext cx="2130552" cy="39319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663440" y="1463040"/>
          <a:ext cx="5669280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32000"/>
                <a:gridCol w="1778000"/>
                <a:gridCol w="185420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超水素化物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転移温度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合成圧力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H₃S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203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155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LaH₁₀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250–260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170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CeH₉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≤ 115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80–100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(La,Ce)H₉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148–178 K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97–172 GPa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Fig. 2.2; Drozdov, Nature 525, 73 (2015); 569, 528 (2019); Salke, Nat. Commun. 10, 4453 (2019); Chen, PRL 127, 117001 (2021); Bi, Nat. Commun. 13, 5952 (2022).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pL の試料の決着をつけるのは、</a:t>
            </a:r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局所・空間分解された磁気測定</a:t>
            </a:r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アンビルの内側の NV が、局所の磁束排除を撮る</a:t>
            </a:r>
          </a:p>
        </p:txBody>
      </p:sp>
      <p:pic>
        <p:nvPicPr>
          <p:cNvPr id="3" name="Picture 2" descr="lit_nv_in_anv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2404872" cy="2743200"/>
          </a:xfrm>
          <a:prstGeom prst="rect">
            <a:avLst/>
          </a:prstGeom>
        </p:spPr>
      </p:pic>
      <p:pic>
        <p:nvPicPr>
          <p:cNvPr id="4" name="Picture 3" descr="lit_meissner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371600"/>
            <a:ext cx="7095744" cy="267919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297680"/>
            <a:ext cx="4846320" cy="868680"/>
          </a:xfrm>
          <a:prstGeom prst="rect">
            <a:avLst/>
          </a:prstGeom>
          <a:noFill/>
          <a:ln w="12700">
            <a:solidFill>
              <a:srgbClr val="1C31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2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測定時間  ∝  画素数 / η</a:t>
            </a:r>
            <a:r>
              <a:rPr sz="2200" b="0" baseline="-250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B</a:t>
            </a:r>
            <a:r>
              <a:rPr sz="2200" b="0" baseline="300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4069080"/>
            <a:ext cx="5120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34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×2.5</a:t>
            </a:r>
            <a:r>
              <a:rPr sz="1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  感度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34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×6</a:t>
            </a:r>
            <a:r>
              <a:rPr sz="1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  マップ取得時間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Fig. 7.2, 7.8; Bhattacharyya et al., Nature 627, 73 (2024); Barry et al., Rev. Mod. Phys. 92, 015004 (2020).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感度は、</a:t>
            </a:r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分解能・視野・到達できる (P, T) 点数を買う通貨</a:t>
            </a:r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120 GPa では吸収帯とイオン化端が同時に青へ動く</a:t>
            </a:r>
          </a:p>
        </p:txBody>
      </p:sp>
      <p:pic>
        <p:nvPicPr>
          <p:cNvPr id="3" name="Picture 2" descr="fig4_absor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K. O. Ho, C. Dailledouze et al., arXiv:2606.02399 (2026).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 xml:space="preserve">120 GPa では σ(473) が σ(532) の 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10 倍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になる。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答えは点ではなく窓である — 463–488 nm</a:t>
            </a:r>
          </a:p>
        </p:txBody>
      </p:sp>
      <p:pic>
        <p:nvPicPr>
          <p:cNvPr id="3" name="Picture 2" descr="fig6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λopt の不確かさ ±5.5 nm は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許容窓の半分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を占める。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答えを決めるのは吸収スペクトルの形だけである</a:t>
            </a:r>
          </a:p>
        </p:txBody>
      </p:sp>
      <p:pic>
        <p:nvPicPr>
          <p:cNvPr id="3" name="Picture 2" descr="fig5_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K. O. Ho, C. Dailledouze et al., arXiv:2606.02399 (2026).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形を決める 3 つ以外は、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±50% 振っても λopt は動かない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先行実験を 26/26 再現し、73 GPa で符号が変わる</a:t>
            </a:r>
          </a:p>
        </p:txBody>
      </p:sp>
      <p:pic>
        <p:nvPicPr>
          <p:cNvPr id="3" name="Picture 2" descr="fig7_cross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Sec. 6.3; Dai et al., CPL 39, 117601 (2022); Hilberer et al., PRB 107, L220102 (2023).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これが本研究を反証する測定である。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理論はここで凍結する — 次は測る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25880"/>
          <a:ext cx="1115568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98500"/>
                <a:gridCol w="3810000"/>
                <a:gridCol w="665480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手順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測るもの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決まること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①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120 GPa の PL スペクトル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励起波長。473 nm は ZPL 512–541 nm なら有効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②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473 nm のパワー掃引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運用パワー（膝の 1.9 倍）、C(I)、Δν(I)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③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その運用点で 532 nm と A/B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この装置での実効利得 — 論文の主結果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④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40→120 GPa 掃引（相乗り）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反証条件。比は ×5.8 振れて 1 を横切る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</a:tbl>
          </a:graphicData>
        </a:graphic>
      </p:graphicFrame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予言を凍結したから、実験は検証になる。</a:t>
            </a:r>
          </a:p>
        </p:txBody>
      </p:sp>
      <p:sp>
        <p:nvSpPr>
          <p:cNvPr id="90" name="RefNote"/>
          <p:cNvSpPr txBox="1"/>
          <p:nvPr/>
        </p:nvSpPr>
        <p:spPr>
          <a:xfrm>
            <a:off x="502920" y="6327648"/>
            <a:ext cx="11192256" cy="411480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P. Bhattacharyya et al., Nature 627, 73 (2024); B. Huang et al., arXiv:2511.20750 (2025).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最適波長はパワーで青へ動く — ここは未校正である</a:t>
            </a:r>
          </a:p>
        </p:txBody>
      </p:sp>
      <p:pic>
        <p:nvPicPr>
          <p:cNvPr id="3" name="Picture 2" descr="fig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J.-H. Dai et al., Chin. Phys. Lett. 39, 117601 (2022).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 xml:space="preserve">次の一手は 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473 nm 単色のパワー掃引 1 本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1">
      <a:dk1>
        <a:srgbClr val="000000"/>
      </a:dk1>
      <a:lt1>
        <a:srgbClr val="FFFFFF"/>
      </a:lt1>
      <a:dk2>
        <a:srgbClr val="1C3077"/>
      </a:dk2>
      <a:lt2>
        <a:srgbClr val="7F96C2"/>
      </a:lt2>
      <a:accent1>
        <a:srgbClr val="E97979"/>
      </a:accent1>
      <a:accent2>
        <a:srgbClr val="F8A088"/>
      </a:accent2>
      <a:accent3>
        <a:srgbClr val="EDC669"/>
      </a:accent3>
      <a:accent4>
        <a:srgbClr val="81BD5F"/>
      </a:accent4>
      <a:accent5>
        <a:srgbClr val="59A36C"/>
      </a:accent5>
      <a:accent6>
        <a:srgbClr val="999999"/>
      </a:accent6>
      <a:hlink>
        <a:srgbClr val="707070"/>
      </a:hlink>
      <a:folHlink>
        <a:srgbClr val="999999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>
        <a:norm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1000"/>
          </a:spcBef>
          <a:spcAft>
            <a:spcPts val="0"/>
          </a:spcAft>
          <a:buClrTx/>
          <a:buSzTx/>
          <a:buFontTx/>
          <a:buNone/>
          <a:tabLst/>
          <a:defRPr kumimoji="1" sz="1600" b="0" i="0" u="none" strike="noStrike" kern="1200" cap="none" spc="0" normalizeH="0" noProof="0" dirty="0">
            <a:ln>
              <a:noFill/>
            </a:ln>
            <a:solidFill>
              <a:sysClr val="windowText" lastClr="000000"/>
            </a:solidFill>
            <a:effectLst/>
            <a:uLnTx/>
            <a:uFillTx/>
            <a:latin typeface="Hind" panose="02000000000000000000" pitchFamily="2" charset="0"/>
            <a:ea typeface="Noto Sans JP" panose="020B0200000000000000" pitchFamily="34" charset="-128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</TotalTime>
  <Words>848</Words>
  <Application>Microsoft Office PowerPoint</Application>
  <PresentationFormat>ワイド画面</PresentationFormat>
  <Paragraphs>220</Paragraphs>
  <Slides>48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48</vt:i4>
      </vt:variant>
    </vt:vector>
  </HeadingPairs>
  <TitlesOfParts>
    <vt:vector size="57" baseType="lpstr">
      <vt:lpstr>Microsoft YaHei</vt:lpstr>
      <vt:lpstr>Noto Sans JP</vt:lpstr>
      <vt:lpstr>Yu Gothic Medium</vt:lpstr>
      <vt:lpstr>Yu Gothic</vt:lpstr>
      <vt:lpstr>Yu Gothic</vt:lpstr>
      <vt:lpstr>游ゴシック Medium</vt:lpstr>
      <vt:lpstr>Arial</vt:lpstr>
      <vt:lpstr>Calibri</vt:lpstr>
      <vt:lpstr>Office テーマ</vt:lpstr>
      <vt:lpstr>Science Tokyo パワーポイントテンプレート</vt:lpstr>
      <vt:lpstr>パワーポイントテンプレート構成</vt:lpstr>
      <vt:lpstr>1. 表紙＋中表紙（4パターン）　</vt:lpstr>
      <vt:lpstr>表紙＋中表紙</vt:lpstr>
      <vt:lpstr>PowerPoint プレゼンテーション</vt:lpstr>
      <vt:lpstr>A</vt:lpstr>
      <vt:lpstr>タイトルタイトル 游ゴシック/Bold</vt:lpstr>
      <vt:lpstr>タイトル　游ゴシック/Bold</vt:lpstr>
      <vt:lpstr>タイトル　游ゴシック/Bold</vt:lpstr>
      <vt:lpstr>PowerPoint プレゼンテーション</vt:lpstr>
      <vt:lpstr>B</vt:lpstr>
      <vt:lpstr>タイトルタイトル 游ゴシック/Bold</vt:lpstr>
      <vt:lpstr>タイトル　游ゴシック/Bold</vt:lpstr>
      <vt:lpstr>タイトル　游ゴシック/Bold</vt:lpstr>
      <vt:lpstr>PowerPoint プレゼンテーション</vt:lpstr>
      <vt:lpstr>C</vt:lpstr>
      <vt:lpstr>タイトルタイトル 游ゴシック/Bold</vt:lpstr>
      <vt:lpstr>タイトル タイトル 游ゴシック/Bold</vt:lpstr>
      <vt:lpstr>タイトル タイトル 游ゴシック/Bold</vt:lpstr>
      <vt:lpstr>PowerPoint プレゼンテーション</vt:lpstr>
      <vt:lpstr>D</vt:lpstr>
      <vt:lpstr>タイトルタイトル 游ゴシック/Bold</vt:lpstr>
      <vt:lpstr>タイトル　游ゴシック/Bold</vt:lpstr>
      <vt:lpstr>タイトル　游ゴシック/Bold</vt:lpstr>
      <vt:lpstr>2. 目次ページ（全パターン共通）</vt:lpstr>
      <vt:lpstr>目次　游ゴシック/Bold</vt:lpstr>
      <vt:lpstr>3. コンテンツページ（全パターン共通）</vt:lpstr>
      <vt:lpstr>コンテンツページ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4. フォントについて　</vt:lpstr>
      <vt:lpstr>フォントについて</vt:lpstr>
      <vt:lpstr>5. カラーについて　</vt:lpstr>
      <vt:lpstr>カラーについて</vt:lpstr>
      <vt:lpstr>カラーについて</vt:lpstr>
      <vt:lpstr>6. 参考レイアウト例</vt:lpstr>
      <vt:lpstr>PowerPoint プレゼンテーション</vt:lpstr>
      <vt:lpstr>グラフ図表事例</vt:lpstr>
      <vt:lpstr>グラフ図表事例</vt:lpstr>
      <vt:lpstr>PowerPoint プレゼンテーション</vt:lpstr>
      <vt:lpstr>組織図表例</vt:lpstr>
      <vt:lpstr>組織図表例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Science Tokyo</dc:creator>
  <cp:lastModifiedBy>Science Tokyo広報課</cp:lastModifiedBy>
  <cp:revision>24</cp:revision>
  <dcterms:created xsi:type="dcterms:W3CDTF">2024-05-02T13:19:49Z</dcterms:created>
  <dcterms:modified xsi:type="dcterms:W3CDTF">2026-05-04T11:56:11Z</dcterms:modified>
</cp:coreProperties>
</file>